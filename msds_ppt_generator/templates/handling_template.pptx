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1" r:id="rId2"/>
  </p:sldIdLst>
  <p:sldSz cx="6858000" cy="9906000" type="A4"/>
  <p:notesSz cx="6735763" cy="98663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5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56" autoAdjust="0"/>
    <p:restoredTop sz="90929"/>
  </p:normalViewPr>
  <p:slideViewPr>
    <p:cSldViewPr>
      <p:cViewPr varScale="1">
        <p:scale>
          <a:sx n="128" d="100"/>
          <a:sy n="128" d="100"/>
        </p:scale>
        <p:origin x="912" y="149"/>
      </p:cViewPr>
      <p:guideLst>
        <p:guide orient="horz" pos="1252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8623" cy="492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31" tIns="45365" rIns="90731" bIns="45365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7141" y="0"/>
            <a:ext cx="2918622" cy="492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31" tIns="45365" rIns="90731" bIns="4536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3727"/>
            <a:ext cx="2918623" cy="492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31" tIns="45365" rIns="90731" bIns="45365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7141" y="9373727"/>
            <a:ext cx="2918622" cy="492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31" tIns="45365" rIns="90731" bIns="45365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F18C76C1-5964-437D-9D20-1ABF9C9677F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47379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623" cy="492586"/>
          </a:xfrm>
          <a:prstGeom prst="rect">
            <a:avLst/>
          </a:prstGeom>
        </p:spPr>
        <p:txBody>
          <a:bodyPr vert="horz" lIns="90731" tIns="45365" rIns="90731" bIns="45365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583" y="0"/>
            <a:ext cx="2918623" cy="492586"/>
          </a:xfrm>
          <a:prstGeom prst="rect">
            <a:avLst/>
          </a:prstGeom>
        </p:spPr>
        <p:txBody>
          <a:bodyPr vert="horz" lIns="90731" tIns="45365" rIns="90731" bIns="45365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217BABC8-D25D-4E99-9250-6550DF7D5E60}" type="datetimeFigureOut">
              <a:rPr lang="ko-KR" altLang="en-US"/>
              <a:pPr>
                <a:defRPr/>
              </a:pPr>
              <a:t>2026-07-08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87563" y="739775"/>
            <a:ext cx="2560637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31" tIns="45365" rIns="90731" bIns="45365" rtlCol="0" anchor="ctr"/>
          <a:lstStyle/>
          <a:p>
            <a:pPr lvl="0"/>
            <a:endParaRPr lang="ko-KR" altLang="en-US" noProof="0" smtClean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889" y="4686055"/>
            <a:ext cx="5387986" cy="4439759"/>
          </a:xfrm>
          <a:prstGeom prst="rect">
            <a:avLst/>
          </a:prstGeom>
        </p:spPr>
        <p:txBody>
          <a:bodyPr vert="horz" lIns="90731" tIns="45365" rIns="90731" bIns="45365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0487"/>
            <a:ext cx="2918623" cy="494206"/>
          </a:xfrm>
          <a:prstGeom prst="rect">
            <a:avLst/>
          </a:prstGeom>
        </p:spPr>
        <p:txBody>
          <a:bodyPr vert="horz" lIns="90731" tIns="45365" rIns="90731" bIns="45365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583" y="9370487"/>
            <a:ext cx="2918623" cy="494206"/>
          </a:xfrm>
          <a:prstGeom prst="rect">
            <a:avLst/>
          </a:prstGeom>
        </p:spPr>
        <p:txBody>
          <a:bodyPr vert="horz" lIns="90731" tIns="45365" rIns="90731" bIns="45365" rtlCol="0" anchor="b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DE42A1-1EE0-46C7-8712-A734A704D83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7199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087563" y="739775"/>
            <a:ext cx="2560637" cy="37004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sz="1600" b="1" u="sng" dirty="0" smtClean="0">
              <a:solidFill>
                <a:srgbClr val="FF0000"/>
              </a:solidFill>
            </a:endParaRPr>
          </a:p>
        </p:txBody>
      </p:sp>
      <p:sp>
        <p:nvSpPr>
          <p:cNvPr id="717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37189" indent="-283532"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34137" indent="-226828"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587791" indent="-226828"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41445" indent="-226828"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495100" indent="-2268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48753" indent="-2268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02408" indent="-2268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56063" indent="-2268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fld id="{5F055C53-7BAB-4941-8EBC-337ED6C6CBBE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1</a:t>
            </a:fld>
            <a:endParaRPr lang="ko-KR" altLang="en-US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22722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6708"/>
            <a:ext cx="5829300" cy="2123942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/>
            </a:lvl1pPr>
            <a:lvl2pPr marL="495285" indent="0" algn="ctr">
              <a:buNone/>
              <a:defRPr/>
            </a:lvl2pPr>
            <a:lvl3pPr marL="990570" indent="0" algn="ctr">
              <a:buNone/>
              <a:defRPr/>
            </a:lvl3pPr>
            <a:lvl4pPr marL="1485854" indent="0" algn="ctr">
              <a:buNone/>
              <a:defRPr/>
            </a:lvl4pPr>
            <a:lvl5pPr marL="1981139" indent="0" algn="ctr">
              <a:buNone/>
              <a:defRPr/>
            </a:lvl5pPr>
            <a:lvl6pPr marL="2476424" indent="0" algn="ctr">
              <a:buNone/>
              <a:defRPr/>
            </a:lvl6pPr>
            <a:lvl7pPr marL="2971709" indent="0" algn="ctr">
              <a:buNone/>
              <a:defRPr/>
            </a:lvl7pPr>
            <a:lvl8pPr marL="3466993" indent="0" algn="ctr">
              <a:buNone/>
              <a:defRPr/>
            </a:lvl8pPr>
            <a:lvl9pPr marL="3962278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C424E1-451D-4B2B-938F-BCCF6329D9B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75993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7482B-C37D-4E13-9D02-C8BE40CBDBD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39444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338" y="6364949"/>
            <a:ext cx="5829300" cy="1967442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338" y="4198012"/>
            <a:ext cx="5829300" cy="2166938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482DC3-E0F8-45FB-9A13-970F6FC391A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61708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14350" y="2861733"/>
            <a:ext cx="2838450" cy="594360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05200" y="2861733"/>
            <a:ext cx="2838450" cy="594360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CD49FD-A4F9-4ACB-8C57-CD0CBD5B473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24487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7272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6812"/>
            <a:ext cx="3030538" cy="925248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2060"/>
            <a:ext cx="3030538" cy="5706269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4564" y="2216812"/>
            <a:ext cx="3030537" cy="925248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4564" y="3142060"/>
            <a:ext cx="3030537" cy="5706269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0B06AB-F16A-437E-AED6-5B423022513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1088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C7FEE-11AB-4D6B-BF5A-206014CCD11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52871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BCCB15-9715-4B07-A70E-10E139EA71C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21963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3833"/>
            <a:ext cx="2255838" cy="1678517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3833"/>
            <a:ext cx="3833812" cy="8454496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2072350"/>
            <a:ext cx="2255838" cy="6775979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EDDC23-A915-4B4C-B3A3-4FF544D6BC3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8377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613" y="6934200"/>
            <a:ext cx="4114800" cy="818621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613" y="885693"/>
            <a:ext cx="4114800" cy="59436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613" y="7752821"/>
            <a:ext cx="4114800" cy="1162579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A35898-72BB-48BE-9F62-5AFDBA7F4DD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6414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EBD99-C162-48DB-84B1-7D6C49C26C9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15024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886326" y="880533"/>
            <a:ext cx="1457325" cy="79248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14351" y="880533"/>
            <a:ext cx="4219575" cy="79248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D4510F-5512-41D9-898A-211A4F215C1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03627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80533"/>
            <a:ext cx="5829300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861733"/>
            <a:ext cx="5829300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9025467"/>
            <a:ext cx="142875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517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9025467"/>
            <a:ext cx="217170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517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9025467"/>
            <a:ext cx="142875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517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6176745F-E0E9-4BB9-8B70-9EAE14F24D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7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767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767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767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767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767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767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767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767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71464" indent="-371464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804838" indent="-30955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3033">
          <a:solidFill>
            <a:schemeClr val="tx1"/>
          </a:solidFill>
          <a:latin typeface="+mn-lt"/>
          <a:ea typeface="+mn-ea"/>
        </a:defRPr>
      </a:lvl2pPr>
      <a:lvl3pPr marL="1238212" indent="-247642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600">
          <a:solidFill>
            <a:schemeClr val="tx1"/>
          </a:solidFill>
          <a:latin typeface="+mn-lt"/>
          <a:ea typeface="+mn-ea"/>
        </a:defRPr>
      </a:lvl3pPr>
      <a:lvl4pPr marL="1733497" indent="-247642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167">
          <a:solidFill>
            <a:schemeClr val="tx1"/>
          </a:solidFill>
          <a:latin typeface="+mn-lt"/>
          <a:ea typeface="+mn-ea"/>
        </a:defRPr>
      </a:lvl4pPr>
      <a:lvl5pPr marL="2228781" indent="-247642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167">
          <a:solidFill>
            <a:schemeClr val="tx1"/>
          </a:solidFill>
          <a:latin typeface="+mn-lt"/>
          <a:ea typeface="+mn-ea"/>
        </a:defRPr>
      </a:lvl5pPr>
      <a:lvl6pPr marL="2724066" indent="-247642" algn="l" rtl="0" fontAlgn="base" latinLnBrk="1">
        <a:spcBef>
          <a:spcPct val="20000"/>
        </a:spcBef>
        <a:spcAft>
          <a:spcPct val="0"/>
        </a:spcAft>
        <a:buChar char="»"/>
        <a:defRPr kumimoji="1" sz="2167">
          <a:solidFill>
            <a:schemeClr val="tx1"/>
          </a:solidFill>
          <a:latin typeface="+mn-lt"/>
          <a:ea typeface="+mn-ea"/>
        </a:defRPr>
      </a:lvl6pPr>
      <a:lvl7pPr marL="3219351" indent="-247642" algn="l" rtl="0" fontAlgn="base" latinLnBrk="1">
        <a:spcBef>
          <a:spcPct val="20000"/>
        </a:spcBef>
        <a:spcAft>
          <a:spcPct val="0"/>
        </a:spcAft>
        <a:buChar char="»"/>
        <a:defRPr kumimoji="1" sz="2167">
          <a:solidFill>
            <a:schemeClr val="tx1"/>
          </a:solidFill>
          <a:latin typeface="+mn-lt"/>
          <a:ea typeface="+mn-ea"/>
        </a:defRPr>
      </a:lvl7pPr>
      <a:lvl8pPr marL="3714636" indent="-247642" algn="l" rtl="0" fontAlgn="base" latinLnBrk="1">
        <a:spcBef>
          <a:spcPct val="20000"/>
        </a:spcBef>
        <a:spcAft>
          <a:spcPct val="0"/>
        </a:spcAft>
        <a:buChar char="»"/>
        <a:defRPr kumimoji="1" sz="2167">
          <a:solidFill>
            <a:schemeClr val="tx1"/>
          </a:solidFill>
          <a:latin typeface="+mn-lt"/>
          <a:ea typeface="+mn-ea"/>
        </a:defRPr>
      </a:lvl8pPr>
      <a:lvl9pPr marL="4209920" indent="-247642" algn="l" rtl="0" fontAlgn="base" latinLnBrk="1">
        <a:spcBef>
          <a:spcPct val="20000"/>
        </a:spcBef>
        <a:spcAft>
          <a:spcPct val="0"/>
        </a:spcAft>
        <a:buChar char="»"/>
        <a:defRPr kumimoji="1" sz="21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12985" y="17045"/>
            <a:ext cx="679861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/>
            <a:endParaRPr lang="en-US" altLang="ko-KR" sz="130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500312"/>
              </p:ext>
            </p:extLst>
          </p:nvPr>
        </p:nvGraphicFramePr>
        <p:xfrm>
          <a:off x="112985" y="-87559"/>
          <a:ext cx="6556376" cy="10081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5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5581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2800" b="1" dirty="0" smtClean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NC-T30R</a:t>
                      </a:r>
                      <a:endParaRPr lang="en-US" altLang="ko-KR" sz="2800" b="1" dirty="0" smtClean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99060" marR="99060" marT="49530" marB="4953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ct val="15000"/>
                        </a:spcAft>
                      </a:pPr>
                      <a:endParaRPr lang="en-US" altLang="ko-KR" sz="1200" b="1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marT="49530" marB="4953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338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ko-KR" sz="2000" b="1" dirty="0" smtClean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9060" marR="99060" marT="49530" marB="4953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ct val="15000"/>
                        </a:spcAft>
                      </a:pPr>
                      <a:endParaRPr lang="en-US" altLang="ko-KR" sz="1200" b="1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marT="49530" marB="4953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57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건강</a:t>
                      </a:r>
                      <a:r>
                        <a:rPr lang="en-US" altLang="ko-KR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및 환경에 </a:t>
                      </a:r>
                      <a:endParaRPr lang="en-US" altLang="ko-KR" sz="1100" b="1" dirty="0" smtClean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대한 유해성</a:t>
                      </a:r>
                      <a:endParaRPr lang="en-US" altLang="ko-KR" sz="1100" b="1" dirty="0" smtClean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·</a:t>
                      </a: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물리적 위험성</a:t>
                      </a:r>
                      <a:endParaRPr lang="en-US" altLang="ko-KR" sz="1100" b="1" dirty="0" smtClean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9060" marR="99060" marT="49530" marB="49530" anchor="ctr"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굴림"/>
                        </a:rPr>
                        <a:t>- 알레르기성 피부 반응 및 눈에 심한 자극을 일으킬 수 있습니다(피부과민성 구분1, 눈 손상성·자극성 구분2).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암을 일으킬 것으로 의심됩니다(발암성 구분2).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장기간 또는 반복노출 시 장기(호흡기, 폐)에 손상을 일으킵니다(특정표적장기독성 구분1).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수생생물에 매우 유독합니다(급성 수생환경 유해성 구분1).</a:t>
                      </a:r>
                    </a:p>
                  </a:txBody>
                  <a:tcPr marL="99060" marR="99060" marT="49530" marB="4953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98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안전</a:t>
                      </a:r>
                      <a:r>
                        <a:rPr lang="en-US" altLang="ko-KR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·</a:t>
                      </a: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보건상의</a:t>
                      </a:r>
                      <a:endParaRPr lang="en-US" altLang="ko-KR" sz="1100" b="1" dirty="0" smtClean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취급 주의사항</a:t>
                      </a:r>
                      <a:endParaRPr lang="ko-KR" altLang="en-US" sz="110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9060" marR="99060" marT="49530" marB="49530" anchor="ctr"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굴림"/>
                        </a:rPr>
                        <a:t>- 분진 및 흄의 흡입을 피하고, 취급 후에는 부위를 철저히 씻으십시오.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눈, 피부 및 의복과의 장기간 접촉을 피하고, 분진 발생을 방지하십시오.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화기로부터 멀리 떨어진 곳에서 취급하십시오.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건조하고 환기가 잘 되는 실내에 잠금장치를 하여 보관하십시오.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수로ㆍ하수구ㆍ환경으로 유입 또는 배출되지 않도록 하십시오.</a:t>
                      </a:r>
                    </a:p>
                  </a:txBody>
                  <a:tcPr marL="99060" marR="99060" marT="49530" marB="4953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87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적절한</a:t>
                      </a:r>
                      <a:endParaRPr lang="en-US" altLang="ko-KR" sz="1100" b="1" dirty="0" smtClean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보호구</a:t>
                      </a:r>
                      <a:endParaRPr lang="ko-KR" altLang="en-US" sz="110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9060" marR="99060" marT="49530" marB="49530" anchor="ctr"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굴림"/>
                        </a:rPr>
                        <a:t>- 1급 이상 방진마스크 또는 송기마스크(환기 부족 시)를 착용하고, Arc 광선·스패터로부터 눈·얼굴을 보호하는 보안경·보안면을 착용하십시오.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피부 과민 반응을 막기 위해 보호장갑·보호의를 착용하십시오.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감전·화상 방지를 위한 절연장갑과 절연 안전화를 착용하십시오.</a:t>
                      </a:r>
                    </a:p>
                  </a:txBody>
                  <a:tcPr marL="99060" marR="99060" marT="49530" marB="4953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164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응급조치</a:t>
                      </a:r>
                      <a:endParaRPr lang="en-US" altLang="ko-KR" sz="1100" b="1" dirty="0" smtClean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요령</a:t>
                      </a:r>
                      <a:endParaRPr lang="en-US" altLang="ko-KR" sz="1100" b="1" dirty="0" smtClean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latinLnBrk="1"/>
                      <a:endParaRPr lang="ko-KR" altLang="en-US" sz="110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9060" marR="99060" marT="49530" marB="49530" anchor="ctr"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굴림"/>
                        </a:rPr>
                        <a:t>▶ 눈에 들어갔을 때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즉시 20분 이상 흐르는 물로 씻고, 아크광선에 의한 화상이면 의사의 진찰을 받으십시오.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▶ 피부에 접촉했을 때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즉시 20분 이상 물로 씻고, 오염된 의류를 벗은 후 다시 사용 전 세척하십시오.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▶ 흡입했을 때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신선한 공기가 있는 곳으로 옮기고, 호흡이 힘들면 산소를 공급하며 의사의 조치를 받으십시오.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▶ 먹었을 때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구강대구강법 인공호흡을 하지 말고, 즉시 의료기관의 진찰을 받으십시오.</a:t>
                      </a:r>
                    </a:p>
                  </a:txBody>
                  <a:tcPr marL="99060" marR="99060" marT="49530" marB="4953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014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사고 시</a:t>
                      </a:r>
                      <a:endParaRPr lang="en-US" altLang="ko-KR" sz="1100" b="1" dirty="0" smtClean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대처방법</a:t>
                      </a:r>
                      <a:endParaRPr lang="en-US" altLang="ko-KR" sz="1100" b="1" dirty="0" smtClean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latinLnBrk="1"/>
                      <a:endParaRPr lang="ko-KR" altLang="en-US" sz="110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9060" marR="99060" marT="49530" marB="4953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굴림"/>
                        </a:rPr>
                        <a:t>- 화재 시 이산화탄소, 분말소화약제, 정규포말, 물 등으로 진압하고, 보호의·장갑·신발 등 보호장비를 착용하십시오.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누출 시 분진·흄의 흡입을 피하고, 수로·하수구·환경으로의 유입을 방지하십시오.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감전 발생 시 즉시 전원을 차단하고 피해자를 안전한 곳으로 이동시키십시오.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의식이 없으면 기도를 확보하고 인공호흡을 실시하며 신속히 의료진의 도움을 요청하십시오.</a:t>
                      </a:r>
                    </a:p>
                  </a:txBody>
                  <a:tcPr marL="99060" marR="99060" marT="49530" marB="4953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676">
                <a:tc gridSpan="2"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900" b="1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※ </a:t>
                      </a:r>
                      <a:r>
                        <a:rPr lang="ko-KR" altLang="en-US" sz="1900" b="1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기타 자세한 내용은 물질안전보건자료</a:t>
                      </a:r>
                      <a:r>
                        <a:rPr lang="en-US" altLang="ko-KR" sz="1900" b="1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(MSDS) </a:t>
                      </a:r>
                      <a:r>
                        <a:rPr lang="ko-KR" altLang="en-US" sz="1900" b="1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참고</a:t>
                      </a:r>
                    </a:p>
                  </a:txBody>
                  <a:tcPr marL="99060" marR="99060" marT="49530" marB="4953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ct val="25000"/>
                        </a:spcAft>
                      </a:pPr>
                      <a:endParaRPr lang="ko-KR" altLang="en-US" sz="1200" dirty="0"/>
                    </a:p>
                  </a:txBody>
                  <a:tcPr marL="99060" marR="99060" marT="49530" marB="4953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075" name="Picture 3074" descr="pict_excla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2224" y="860065"/>
            <a:ext cx="659299" cy="659299"/>
          </a:xfrm>
          <a:prstGeom prst="rect">
            <a:avLst/>
          </a:prstGeom>
        </p:spPr>
      </p:pic>
      <p:pic>
        <p:nvPicPr>
          <p:cNvPr id="3076" name="Picture 3075" descr="pict_heal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1523" y="860065"/>
            <a:ext cx="659299" cy="659299"/>
          </a:xfrm>
          <a:prstGeom prst="rect">
            <a:avLst/>
          </a:prstGeom>
        </p:spPr>
      </p:pic>
      <p:pic>
        <p:nvPicPr>
          <p:cNvPr id="3077" name="Picture 3076" descr="pict_en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0822" y="860065"/>
            <a:ext cx="659299" cy="65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2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2928</TotalTime>
  <Words>282</Words>
  <Application>Microsoft Office PowerPoint</Application>
  <PresentationFormat>A4 용지(210x297mm)</PresentationFormat>
  <Paragraphs>44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HY헤드라인M</vt:lpstr>
      <vt:lpstr>굴림</vt:lpstr>
      <vt:lpstr>맑은 고딕</vt:lpstr>
      <vt:lpstr>기본 디자인</vt:lpstr>
      <vt:lpstr>PowerPoint 프레젠테이션</vt:lpstr>
    </vt:vector>
  </TitlesOfParts>
  <Company>..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천홍태</dc:creator>
  <cp:lastModifiedBy>김재원(Kim Jae-Won)</cp:lastModifiedBy>
  <cp:revision>188</cp:revision>
  <cp:lastPrinted>2021-03-25T07:49:31Z</cp:lastPrinted>
  <dcterms:created xsi:type="dcterms:W3CDTF">2003-02-06T02:39:15Z</dcterms:created>
  <dcterms:modified xsi:type="dcterms:W3CDTF">2026-07-08T01:35:15Z</dcterms:modified>
</cp:coreProperties>
</file>