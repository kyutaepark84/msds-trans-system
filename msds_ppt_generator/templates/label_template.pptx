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6858000" cy="9144000"/>
  <p:notesSz cx="6735763" cy="98679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87DDD3-8ED3-4E20-B851-4FCE209D6A5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42720" y="366480"/>
            <a:ext cx="6172200" cy="1523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굴림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굴림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342720" y="2133360"/>
            <a:ext cx="61722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굴림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굴림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굴림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굴림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굴림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굴림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굴림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굴림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굴림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굴림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굴림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굴림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굴림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굴림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굴림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굴림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굴림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굴림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굴림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굴림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굴림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342720" y="8326440"/>
            <a:ext cx="1600200" cy="63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굴림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2343240" y="8326440"/>
            <a:ext cx="2171520" cy="63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굴림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4914720" y="8326440"/>
            <a:ext cx="1600200" cy="63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굴림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1293D69-AADC-46C8-BC35-B434A000DB3B}" type="slidenum">
              <a:rPr b="0" lang="en-US" sz="1400" spc="-1" strike="noStrike">
                <a:solidFill>
                  <a:srgbClr val="000000"/>
                </a:solidFill>
                <a:latin typeface="굴림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굴림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/>
          <p:nvPr/>
        </p:nvSpPr>
        <p:spPr>
          <a:xfrm>
            <a:off x="115920" y="233280"/>
            <a:ext cx="6626160" cy="8639280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굴림"/>
            </a:endParaRPr>
          </a:p>
        </p:txBody>
      </p:sp>
      <p:graphicFrame>
        <p:nvGraphicFramePr>
          <p:cNvPr id="6" name=""/>
          <p:cNvGraphicFramePr/>
          <p:nvPr/>
        </p:nvGraphicFramePr>
        <p:xfrm>
          <a:off x="260280" y="1300000"/>
          <a:ext cx="6337440" cy="6400000"/>
        </p:xfrm>
        <a:graphic>
          <a:graphicData uri="http://schemas.openxmlformats.org/drawingml/2006/table">
            <a:tbl>
              <a:tblPr/>
              <a:tblGrid>
                <a:gridCol w="1224000"/>
                <a:gridCol w="5113440"/>
              </a:tblGrid>
              <a:tr h="1450000"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ts val="1998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ko-KR" sz="3600" spc="-1" strike="noStrike">
                          <a:solidFill>
                            <a:srgbClr val="000000"/>
                          </a:solidFill>
                          <a:latin typeface="HY헤드라인M"/>
                        </a:rPr>
                        <a:t>위험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굴림"/>
                      </a:endParaRPr>
                    </a:p>
                  </a:txBody>
                  <a:tcPr anchor="ctr" marL="90000" marR="90000">
                    <a:lnL w="28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28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sz="1300" b="1">
                          <a:latin typeface="굴림"/>
                        </a:rPr>
                        <a:t/>
                      </a: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28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50000"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ts val="1998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ko-KR" sz="1400" spc="-1" strike="noStrike">
                          <a:solidFill>
                            <a:srgbClr val="000000"/>
                          </a:solidFill>
                          <a:latin typeface="굴림"/>
                        </a:rPr>
                        <a:t>유해ㆍ위험 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굴림"/>
                      </a:endParaRPr>
                    </a:p>
                    <a:p>
                      <a:pPr algn="ctr">
                        <a:lnSpc>
                          <a:spcPts val="1998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ko-KR" sz="1400" spc="-1" strike="noStrike">
                          <a:solidFill>
                            <a:srgbClr val="000000"/>
                          </a:solidFill>
                          <a:latin typeface="굴림"/>
                        </a:rPr>
                        <a:t>문구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굴림"/>
                      </a:endParaRPr>
                    </a:p>
                  </a:txBody>
                  <a:tcPr anchor="ctr" marL="90000" marR="90000">
                    <a:lnL w="28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28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sz="1300" b="1">
                          <a:latin typeface="굴림"/>
                        </a:rPr>
                        <a:t>▪ 알레르기성 피부 반응을 일으킬 수 있음(H317)</a:t>
                      </a:r>
                    </a:p>
                    <a:p>
                      <a:r>
                        <a:rPr sz="1300" b="1">
                          <a:latin typeface="굴림"/>
                        </a:rPr>
                        <a:t>▪ 눈에 심한 자극을 일으킴(H319)</a:t>
                      </a:r>
                    </a:p>
                    <a:p>
                      <a:r>
                        <a:rPr sz="1300" b="1">
                          <a:latin typeface="굴림"/>
                        </a:rPr>
                        <a:t>▪ 암을 일으킬 것으로 의심됨(H351)</a:t>
                      </a:r>
                    </a:p>
                    <a:p>
                      <a:r>
                        <a:rPr sz="1300" b="1">
                          <a:latin typeface="굴림"/>
                        </a:rPr>
                        <a:t>▪ 장기간 또는 반복노출 되면 장기(호흡기, 폐)에 손상을 일으킴(H372)</a:t>
                      </a:r>
                    </a:p>
                    <a:p>
                      <a:r>
                        <a:rPr sz="1300" b="1">
                          <a:latin typeface="굴림"/>
                        </a:rPr>
                        <a:t>▪ 수생생물에 매우 유독함(H400)</a:t>
                      </a: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28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600000"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ts val="1998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ko-KR" sz="1400" spc="-1" strike="noStrike">
                          <a:solidFill>
                            <a:srgbClr val="000000"/>
                          </a:solidFill>
                          <a:latin typeface="굴림"/>
                        </a:rPr>
                        <a:t>예방조치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굴림"/>
                      </a:endParaRPr>
                    </a:p>
                    <a:p>
                      <a:pPr algn="ctr">
                        <a:lnSpc>
                          <a:spcPts val="1998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ko-KR" sz="1400" spc="-1" strike="noStrike">
                          <a:solidFill>
                            <a:srgbClr val="000000"/>
                          </a:solidFill>
                          <a:latin typeface="굴림"/>
                        </a:rPr>
                        <a:t> </a:t>
                      </a:r>
                      <a:r>
                        <a:rPr b="1" lang="ko-KR" sz="1400" spc="-1" strike="noStrike">
                          <a:solidFill>
                            <a:srgbClr val="000000"/>
                          </a:solidFill>
                          <a:latin typeface="굴림"/>
                        </a:rPr>
                        <a:t>문구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굴림"/>
                      </a:endParaRPr>
                    </a:p>
                  </a:txBody>
                  <a:tcPr anchor="ctr" marL="90000" marR="90000">
                    <a:lnL w="28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2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sz="1300" b="1">
                          <a:latin typeface="굴림"/>
                        </a:rPr>
                        <a:t>▪ 사용 전 취급설명서를 확보하고, 모든 예방조치문구를 읽고 이해하기 전에는 취급하지 마시오</a:t>
                      </a:r>
                    </a:p>
                    <a:p>
                      <a:r>
                        <a:rPr sz="1300" b="1">
                          <a:latin typeface="굴림"/>
                        </a:rPr>
                        <a:t>▪ 분진ㆍ흄ㆍ가스ㆍ미스트ㆍ증기ㆍ스프레이의 흡입을 피하시오</a:t>
                      </a:r>
                    </a:p>
                    <a:p>
                      <a:r>
                        <a:rPr sz="1300" b="1">
                          <a:latin typeface="굴림"/>
                        </a:rPr>
                        <a:t>▪ 취급 후에는 부위를 철저히 씻고, 작업장 밖으로 오염된 의류를 반출하지 마시오</a:t>
                      </a:r>
                    </a:p>
                    <a:p>
                      <a:r>
                        <a:rPr sz="1300" b="1">
                          <a:latin typeface="굴림"/>
                        </a:rPr>
                        <a:t>▪ 보호장갑ㆍ보호의ㆍ보안경ㆍ안면보호구를 착용하시오</a:t>
                      </a:r>
                    </a:p>
                    <a:p>
                      <a:r>
                        <a:rPr sz="1300" b="1">
                          <a:latin typeface="굴림"/>
                        </a:rPr>
                        <a:t>▪ 눈에 묻으면 몇 분간 물로 씻고, 자극이 지속되면 의학적 조치를 받으시오</a:t>
                      </a:r>
                    </a:p>
                    <a:p>
                      <a:r>
                        <a:rPr sz="1300" b="1">
                          <a:latin typeface="굴림"/>
                        </a:rPr>
                        <a:t>▪ 노출되거나 노출이 우려되면 의학적인 조치ㆍ조언을 구하시오</a:t>
                      </a:r>
                    </a:p>
                    <a:p>
                      <a:r>
                        <a:rPr sz="1300" b="1">
                          <a:latin typeface="굴림"/>
                        </a:rPr>
                        <a:t>▪ 잠금장치를 하여 저장하고, 폐기물 관련 법령에 따라 폐기하시오</a:t>
                      </a: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2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000000"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ts val="1998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ko-KR" sz="1400" spc="-1" strike="noStrike">
                          <a:solidFill>
                            <a:srgbClr val="000000"/>
                          </a:solidFill>
                          <a:latin typeface="굴림"/>
                        </a:rPr>
                        <a:t>공급자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굴림"/>
                      </a:endParaRPr>
                    </a:p>
                    <a:p>
                      <a:pPr algn="ctr">
                        <a:lnSpc>
                          <a:spcPts val="1998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ko-KR" sz="1400" spc="-1" strike="noStrike">
                          <a:solidFill>
                            <a:srgbClr val="000000"/>
                          </a:solidFill>
                          <a:latin typeface="굴림"/>
                        </a:rPr>
                        <a:t>정보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굴림"/>
                      </a:endParaRPr>
                    </a:p>
                  </a:txBody>
                  <a:tcPr anchor="ctr" marL="90000" marR="90000">
                    <a:lnL w="28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2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sz="1300" b="1">
                          <a:latin typeface="굴림"/>
                        </a:rPr>
                        <a:t>▪ 회사명 : </a:t>
                      </a:r>
                    </a:p>
                    <a:p>
                      <a:r>
                        <a:rPr sz="1300" b="1">
                          <a:latin typeface="굴림"/>
                        </a:rPr>
                        <a:t>▪ 주소 : </a:t>
                      </a:r>
                    </a:p>
                    <a:p>
                      <a:r>
                        <a:rPr sz="1300" b="1">
                          <a:latin typeface="굴림"/>
                        </a:rPr>
                        <a:t>▪ 연락처 : </a:t>
                      </a: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28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2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ectangle 14"/>
          <p:cNvSpPr/>
          <p:nvPr/>
        </p:nvSpPr>
        <p:spPr>
          <a:xfrm>
            <a:off x="189000" y="150000"/>
            <a:ext cx="6451560" cy="95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 algn="ctr"/>
            <a:r>
              <a:rPr sz="2800" b="0">
                <a:latin typeface="HY헤드라인M"/>
              </a:rPr>
              <a:t>NC-T30R</a:t>
            </a:r>
          </a:p>
        </p:txBody>
      </p:sp>
      <p:sp>
        <p:nvSpPr>
          <p:cNvPr id="9" name="Rectangle 16"/>
          <p:cNvSpPr/>
          <p:nvPr/>
        </p:nvSpPr>
        <p:spPr>
          <a:xfrm>
            <a:off x="336600" y="7780000"/>
            <a:ext cx="6264360" cy="3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 fontScale="50000"/>
          </a:bodyPr>
          <a:p>
            <a:r>
              <a:rPr sz="1200" b="1">
                <a:latin typeface="굴림"/>
              </a:rPr>
              <a:t>※ 기타 자세한 내용은 물질안전보건자료(MSDS) 참고</a:t>
            </a:r>
          </a:p>
        </p:txBody>
      </p:sp>
      <p:pic>
        <p:nvPicPr>
          <p:cNvPr id="10" name="Picture 9" descr="pict_excla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6000" y="1450000"/>
            <a:ext cx="1150000" cy="1150000"/>
          </a:xfrm>
          <a:prstGeom prst="rect">
            <a:avLst/>
          </a:prstGeom>
        </p:spPr>
      </p:pic>
      <p:pic>
        <p:nvPicPr>
          <p:cNvPr id="11" name="Picture 10" descr="pict_healt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6000" y="1450000"/>
            <a:ext cx="1150000" cy="1150000"/>
          </a:xfrm>
          <a:prstGeom prst="rect">
            <a:avLst/>
          </a:prstGeom>
        </p:spPr>
      </p:pic>
      <p:pic>
        <p:nvPicPr>
          <p:cNvPr id="12" name="Picture 11" descr="pict_env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6000" y="1450000"/>
            <a:ext cx="1150000" cy="115000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1068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2010-06-20T23:15:54Z</dcterms:created>
  <dc:creator>HCC</dc:creator>
  <dc:description/>
  <dc:language>en-US</dc:language>
  <cp:lastModifiedBy>김재원(Kim Jae-Won)</cp:lastModifiedBy>
  <cp:lastPrinted>2026-07-16T01:03:21Z</cp:lastPrinted>
  <dcterms:modified xsi:type="dcterms:W3CDTF">2026-07-16T01:03:49Z</dcterms:modified>
  <cp:revision>58</cp:revision>
  <dc:subject/>
  <dc:title>슬라이드 1</dc:title>
</cp:coreProperties>
</file>