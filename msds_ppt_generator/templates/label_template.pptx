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6858000" cy="9144000"/>
  <p:notesSz cx="6735763" cy="98679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087DDD3-8ED3-4E20-B851-4FCE209D6A5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42720" y="366480"/>
            <a:ext cx="6172200" cy="1523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ctr">
            <a:noAutofit/>
          </a:bodyPr>
          <a:p>
            <a:pPr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굴림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굴림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342720" y="2133360"/>
            <a:ext cx="6172200" cy="603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t">
            <a:normAutofit/>
          </a:bodyPr>
          <a:p>
            <a:pPr marL="343080" indent="-343080">
              <a:spcBef>
                <a:spcPts val="799"/>
              </a:spcBef>
              <a:buClr>
                <a:srgbClr val="000000"/>
              </a:buClr>
              <a:buFont typeface="굴림"/>
              <a:buChar char="•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굴림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굴림"/>
            </a:endParaRPr>
          </a:p>
          <a:p>
            <a:pPr lvl="1" marL="743040" indent="-285840">
              <a:spcBef>
                <a:spcPts val="799"/>
              </a:spcBef>
              <a:buClr>
                <a:srgbClr val="000000"/>
              </a:buClr>
              <a:buFont typeface="굴림"/>
              <a:buChar char="–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굴림"/>
              </a:rPr>
              <a:t>Second Outline Level</a:t>
            </a:r>
            <a:endParaRPr b="0" lang="en-US" sz="3200" spc="-1" strike="noStrike">
              <a:solidFill>
                <a:srgbClr val="000000"/>
              </a:solidFill>
              <a:latin typeface="굴림"/>
            </a:endParaRPr>
          </a:p>
          <a:p>
            <a:pPr lvl="2" marL="1143000" indent="-228600">
              <a:spcBef>
                <a:spcPts val="799"/>
              </a:spcBef>
              <a:buClr>
                <a:srgbClr val="000000"/>
              </a:buClr>
              <a:buFont typeface="굴림"/>
              <a:buChar char="•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굴림"/>
              </a:rPr>
              <a:t>Third Outline Level</a:t>
            </a:r>
            <a:endParaRPr b="0" lang="en-US" sz="3200" spc="-1" strike="noStrike">
              <a:solidFill>
                <a:srgbClr val="000000"/>
              </a:solidFill>
              <a:latin typeface="굴림"/>
            </a:endParaRPr>
          </a:p>
          <a:p>
            <a:pPr lvl="3" marL="1600200" indent="-228600">
              <a:spcBef>
                <a:spcPts val="799"/>
              </a:spcBef>
              <a:buClr>
                <a:srgbClr val="000000"/>
              </a:buClr>
              <a:buFont typeface="굴림"/>
              <a:buChar char="–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굴림"/>
              </a:rPr>
              <a:t>Fourth Outline Level</a:t>
            </a:r>
            <a:endParaRPr b="0" lang="en-US" sz="3200" spc="-1" strike="noStrike">
              <a:solidFill>
                <a:srgbClr val="000000"/>
              </a:solidFill>
              <a:latin typeface="굴림"/>
            </a:endParaRPr>
          </a:p>
          <a:p>
            <a:pPr lvl="4" marL="2057400" indent="-228600">
              <a:spcBef>
                <a:spcPts val="799"/>
              </a:spcBef>
              <a:buClr>
                <a:srgbClr val="000000"/>
              </a:buClr>
              <a:buFont typeface="굴림"/>
              <a:buChar char="»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굴림"/>
              </a:rPr>
              <a:t>Fifth Outline Level</a:t>
            </a:r>
            <a:endParaRPr b="0" lang="en-US" sz="3200" spc="-1" strike="noStrike">
              <a:solidFill>
                <a:srgbClr val="000000"/>
              </a:solidFill>
              <a:latin typeface="굴림"/>
            </a:endParaRPr>
          </a:p>
          <a:p>
            <a:pPr lvl="5" marL="2057400" indent="-228600">
              <a:spcBef>
                <a:spcPts val="799"/>
              </a:spcBef>
              <a:buClr>
                <a:srgbClr val="000000"/>
              </a:buClr>
              <a:buFont typeface="굴림"/>
              <a:buChar char="»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굴림"/>
              </a:rPr>
              <a:t>Sixth Outline Level</a:t>
            </a:r>
            <a:endParaRPr b="0" lang="en-US" sz="3200" spc="-1" strike="noStrike">
              <a:solidFill>
                <a:srgbClr val="000000"/>
              </a:solidFill>
              <a:latin typeface="굴림"/>
            </a:endParaRPr>
          </a:p>
          <a:p>
            <a:pPr lvl="6" marL="2057400" indent="-228600">
              <a:spcBef>
                <a:spcPts val="799"/>
              </a:spcBef>
              <a:buClr>
                <a:srgbClr val="000000"/>
              </a:buClr>
              <a:buFont typeface="굴림"/>
              <a:buChar char="»"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굴림"/>
              </a:rPr>
              <a:t>Seventh Outline Level</a:t>
            </a:r>
            <a:endParaRPr b="0" lang="en-US" sz="3200" spc="-1" strike="noStrike">
              <a:solidFill>
                <a:srgbClr val="000000"/>
              </a:solidFill>
              <a:latin typeface="굴림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342720" y="8326440"/>
            <a:ext cx="1600200" cy="635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t">
            <a:noAutofit/>
          </a:bodyPr>
          <a:p>
            <a:pPr indent="0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800" spc="-1" strike="noStrike">
              <a:solidFill>
                <a:srgbClr val="000000"/>
              </a:solidFill>
              <a:latin typeface="굴림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2343240" y="8326440"/>
            <a:ext cx="2171520" cy="635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t">
            <a:noAutofit/>
          </a:bodyPr>
          <a:p>
            <a:pPr indent="0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800" spc="-1" strike="noStrike">
              <a:solidFill>
                <a:srgbClr val="000000"/>
              </a:solidFill>
              <a:latin typeface="굴림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4914720" y="8326440"/>
            <a:ext cx="1600200" cy="635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6800" bIns="46800" anchor="t">
            <a:noAutofit/>
          </a:bodyPr>
          <a:lstStyle>
            <a:lvl1pPr indent="0" algn="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  <a:defRPr b="0" lang="en-US" sz="1400" spc="-1" strike="noStrike">
                <a:solidFill>
                  <a:srgbClr val="000000"/>
                </a:solidFill>
                <a:latin typeface="굴림"/>
              </a:defRPr>
            </a:lvl1pPr>
          </a:lstStyle>
          <a:p>
            <a:pPr indent="0" algn="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fld id="{61293D69-AADC-46C8-BC35-B434A000DB3B}" type="slidenum">
              <a:rPr b="0" lang="en-US" sz="1400" spc="-1" strike="noStrike">
                <a:solidFill>
                  <a:srgbClr val="000000"/>
                </a:solidFill>
                <a:latin typeface="굴림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굴림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/>
          <p:nvPr/>
        </p:nvSpPr>
        <p:spPr>
          <a:xfrm>
            <a:off x="115920" y="233280"/>
            <a:ext cx="6626160" cy="8639280"/>
          </a:xfrm>
          <a:prstGeom prst="rect">
            <a:avLst/>
          </a:prstGeom>
          <a:noFill/>
          <a:ln w="2844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800" spc="-1" strike="noStrike">
              <a:solidFill>
                <a:srgbClr val="000000"/>
              </a:solidFill>
              <a:latin typeface="굴림"/>
            </a:endParaRPr>
          </a:p>
        </p:txBody>
      </p:sp>
      <p:graphicFrame>
        <p:nvGraphicFramePr>
          <p:cNvPr id="6" name=""/>
          <p:cNvGraphicFramePr/>
          <p:nvPr/>
        </p:nvGraphicFramePr>
        <p:xfrm>
          <a:off x="260280" y="4067320"/>
          <a:ext cx="6337440" cy="3978720"/>
        </p:xfrm>
        <a:graphic>
          <a:graphicData uri="http://schemas.openxmlformats.org/drawingml/2006/table">
            <a:tbl>
              <a:tblPr/>
              <a:tblGrid>
                <a:gridCol w="1224000"/>
                <a:gridCol w="5113440"/>
              </a:tblGrid>
              <a:tr h="1242000">
                <a:tc>
                  <a:txBody>
                    <a:bodyPr lIns="90000" rIns="90000" tIns="46800" bIns="46800" anchor="ctr">
                      <a:noAutofit/>
                    </a:bodyPr>
                    <a:p>
                      <a:pPr algn="ctr">
                        <a:lnSpc>
                          <a:spcPts val="1998"/>
                        </a:lnSpc>
                        <a:spcBef>
                          <a:spcPts val="349"/>
                        </a:spcBef>
                        <a:tabLst>
                          <a:tab algn="l" pos="0"/>
                          <a:tab algn="l" pos="914400"/>
                          <a:tab algn="l" pos="1828800"/>
                          <a:tab algn="l" pos="2743200"/>
                          <a:tab algn="l" pos="3657600"/>
                          <a:tab algn="l" pos="4572000"/>
                          <a:tab algn="l" pos="5486400"/>
                          <a:tab algn="l" pos="6400800"/>
                          <a:tab algn="l" pos="7315200"/>
                          <a:tab algn="l" pos="8229600"/>
                          <a:tab algn="l" pos="9144000"/>
                          <a:tab algn="l" pos="10058400"/>
                        </a:tabLst>
                      </a:pPr>
                      <a:r>
                        <a:rPr b="1" lang="ko-KR" sz="1400" spc="-1" strike="noStrike">
                          <a:solidFill>
                            <a:srgbClr val="000000"/>
                          </a:solidFill>
                          <a:latin typeface="굴림"/>
                        </a:rPr>
                        <a:t>유해ㆍ위험 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굴림"/>
                      </a:endParaRPr>
                    </a:p>
                    <a:p>
                      <a:pPr algn="ctr">
                        <a:lnSpc>
                          <a:spcPts val="1998"/>
                        </a:lnSpc>
                        <a:spcBef>
                          <a:spcPts val="349"/>
                        </a:spcBef>
                        <a:tabLst>
                          <a:tab algn="l" pos="0"/>
                          <a:tab algn="l" pos="914400"/>
                          <a:tab algn="l" pos="1828800"/>
                          <a:tab algn="l" pos="2743200"/>
                          <a:tab algn="l" pos="3657600"/>
                          <a:tab algn="l" pos="4572000"/>
                          <a:tab algn="l" pos="5486400"/>
                          <a:tab algn="l" pos="6400800"/>
                          <a:tab algn="l" pos="7315200"/>
                          <a:tab algn="l" pos="8229600"/>
                          <a:tab algn="l" pos="9144000"/>
                          <a:tab algn="l" pos="10058400"/>
                        </a:tabLst>
                      </a:pPr>
                      <a:r>
                        <a:rPr b="1" lang="ko-KR" sz="1400" spc="-1" strike="noStrike">
                          <a:solidFill>
                            <a:srgbClr val="000000"/>
                          </a:solidFill>
                          <a:latin typeface="굴림"/>
                        </a:rPr>
                        <a:t>문구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굴림"/>
                      </a:endParaRPr>
                    </a:p>
                  </a:txBody>
                  <a:tcPr anchor="ctr" marL="90000" marR="90000">
                    <a:lnL w="2880">
                      <a:solidFill>
                        <a:srgbClr val="000000"/>
                      </a:solidFill>
                      <a:prstDash val="solid"/>
                    </a:lnL>
                    <a:lnR w="5760">
                      <a:solidFill>
                        <a:srgbClr val="000000"/>
                      </a:solidFill>
                      <a:prstDash val="solid"/>
                    </a:lnR>
                    <a:lnT w="2880">
                      <a:solidFill>
                        <a:srgbClr val="000000"/>
                      </a:solidFill>
                      <a:prstDash val="solid"/>
                    </a:lnT>
                    <a:lnB w="57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0000" rIns="90000" tIns="46800" bIns="46800" anchor="t">
                      <a:noAutofit/>
                    </a:bodyPr>
                    <a:p>
                      <a:r>
                        <a:rPr sz="1300" b="1">
                          <a:latin typeface="굴림"/>
                        </a:rPr>
                        <a:t>▪ 알레르기성 피부 반응을 일으킬 수 있음(H317)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눈에 심한 자극을 일으킴(H319)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암을 일으킬 것으로 의심됨(H351)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장기간 또는 반복노출 되면 장기(호흡기, 폐)에 손상을 일으킴(H372)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수생생물에 매우 유독함(H400)</a:t>
                      </a:r>
                    </a:p>
                  </a:txBody>
                  <a:tcPr anchor="t" marL="90000" marR="90000">
                    <a:lnL w="5760">
                      <a:solidFill>
                        <a:srgbClr val="000000"/>
                      </a:solidFill>
                      <a:prstDash val="solid"/>
                    </a:lnL>
                    <a:lnR w="2880">
                      <a:solidFill>
                        <a:srgbClr val="000000"/>
                      </a:solidFill>
                      <a:prstDash val="solid"/>
                    </a:lnR>
                    <a:lnT w="2880">
                      <a:solidFill>
                        <a:srgbClr val="000000"/>
                      </a:solidFill>
                      <a:prstDash val="solid"/>
                    </a:lnT>
                    <a:lnB w="576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6720">
                <a:tc>
                  <a:txBody>
                    <a:bodyPr lIns="90000" rIns="90000" tIns="46800" bIns="46800" anchor="ctr">
                      <a:noAutofit/>
                    </a:bodyPr>
                    <a:p>
                      <a:pPr algn="ctr">
                        <a:lnSpc>
                          <a:spcPts val="1998"/>
                        </a:lnSpc>
                        <a:spcBef>
                          <a:spcPts val="349"/>
                        </a:spcBef>
                        <a:tabLst>
                          <a:tab algn="l" pos="0"/>
                          <a:tab algn="l" pos="914400"/>
                          <a:tab algn="l" pos="1828800"/>
                          <a:tab algn="l" pos="2743200"/>
                          <a:tab algn="l" pos="3657600"/>
                          <a:tab algn="l" pos="4572000"/>
                          <a:tab algn="l" pos="5486400"/>
                          <a:tab algn="l" pos="6400800"/>
                          <a:tab algn="l" pos="7315200"/>
                          <a:tab algn="l" pos="8229600"/>
                          <a:tab algn="l" pos="9144000"/>
                          <a:tab algn="l" pos="10058400"/>
                        </a:tabLst>
                      </a:pPr>
                      <a:r>
                        <a:rPr b="1" lang="ko-KR" sz="1400" spc="-1" strike="noStrike">
                          <a:solidFill>
                            <a:srgbClr val="000000"/>
                          </a:solidFill>
                          <a:latin typeface="굴림"/>
                        </a:rPr>
                        <a:t>예방조치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굴림"/>
                      </a:endParaRPr>
                    </a:p>
                    <a:p>
                      <a:pPr algn="ctr">
                        <a:lnSpc>
                          <a:spcPts val="1998"/>
                        </a:lnSpc>
                        <a:spcBef>
                          <a:spcPts val="349"/>
                        </a:spcBef>
                        <a:tabLst>
                          <a:tab algn="l" pos="0"/>
                          <a:tab algn="l" pos="914400"/>
                          <a:tab algn="l" pos="1828800"/>
                          <a:tab algn="l" pos="2743200"/>
                          <a:tab algn="l" pos="3657600"/>
                          <a:tab algn="l" pos="4572000"/>
                          <a:tab algn="l" pos="5486400"/>
                          <a:tab algn="l" pos="6400800"/>
                          <a:tab algn="l" pos="7315200"/>
                          <a:tab algn="l" pos="8229600"/>
                          <a:tab algn="l" pos="9144000"/>
                          <a:tab algn="l" pos="10058400"/>
                        </a:tabLst>
                      </a:pPr>
                      <a:r>
                        <a:rPr b="1" lang="ko-KR" sz="1400" spc="-1" strike="noStrike">
                          <a:solidFill>
                            <a:srgbClr val="000000"/>
                          </a:solidFill>
                          <a:latin typeface="굴림"/>
                        </a:rPr>
                        <a:t> </a:t>
                      </a:r>
                      <a:r>
                        <a:rPr b="1" lang="ko-KR" sz="1400" spc="-1" strike="noStrike">
                          <a:solidFill>
                            <a:srgbClr val="000000"/>
                          </a:solidFill>
                          <a:latin typeface="굴림"/>
                        </a:rPr>
                        <a:t>문구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굴림"/>
                      </a:endParaRPr>
                    </a:p>
                  </a:txBody>
                  <a:tcPr anchor="ctr" marL="90000" marR="90000">
                    <a:lnL w="2880">
                      <a:solidFill>
                        <a:srgbClr val="000000"/>
                      </a:solidFill>
                      <a:prstDash val="solid"/>
                    </a:lnL>
                    <a:lnR w="5760">
                      <a:solidFill>
                        <a:srgbClr val="000000"/>
                      </a:solidFill>
                      <a:prstDash val="solid"/>
                    </a:lnR>
                    <a:lnT w="5760">
                      <a:solidFill>
                        <a:srgbClr val="000000"/>
                      </a:solidFill>
                      <a:prstDash val="solid"/>
                    </a:lnT>
                    <a:lnB w="28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0000" rIns="90000" tIns="46800" bIns="46800" anchor="t">
                      <a:noAutofit/>
                    </a:bodyPr>
                    <a:p>
                      <a:r>
                        <a:rPr sz="1300" b="1">
                          <a:latin typeface="굴림"/>
                        </a:rPr>
                        <a:t>▪ 사용 전 취급설명서를 확보하고, 모든 예방조치문구를 읽고 이해하기 전에는 취급하지 마시오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분진ㆍ흄ㆍ가스ㆍ미스트ㆍ증기ㆍ스프레이의 흡입을 피하시오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취급 후에는 부위를 철저히 씻고, 작업장 밖으로 오염된 의류를 반출하지 마시오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보호장갑ㆍ보호의ㆍ보안경ㆍ안면보호구를 착용하시오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눈에 묻으면 몇 분간 물로 씻고, 자극이 지속되면 의학적 조치를 받으시오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노출되거나 노출이 우려되면 의학적인 조치ㆍ조언을 구하시오</a:t>
                      </a:r>
                    </a:p>
                    <a:p>
                      <a:r>
                        <a:rPr sz="1300" b="1">
                          <a:latin typeface="굴림"/>
                        </a:rPr>
                        <a:t>▪ 잠금장치를 하여 저장하고, 폐기물 관련 법령에 따라 폐기하시오</a:t>
                      </a:r>
                    </a:p>
                  </a:txBody>
                  <a:tcPr anchor="t" marL="90000" marR="90000">
                    <a:lnL w="5760">
                      <a:solidFill>
                        <a:srgbClr val="000000"/>
                      </a:solidFill>
                      <a:prstDash val="solid"/>
                    </a:lnL>
                    <a:lnR w="2880">
                      <a:solidFill>
                        <a:srgbClr val="000000"/>
                      </a:solidFill>
                      <a:prstDash val="solid"/>
                    </a:lnR>
                    <a:lnT w="5760">
                      <a:solidFill>
                        <a:srgbClr val="000000"/>
                      </a:solidFill>
                      <a:prstDash val="solid"/>
                    </a:lnT>
                    <a:lnB w="288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14"/>
          <p:cNvSpPr/>
          <p:nvPr/>
        </p:nvSpPr>
        <p:spPr>
          <a:xfrm>
            <a:off x="189000" y="108000"/>
            <a:ext cx="6451560" cy="21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ctr" anchorCtr="1">
            <a:noAutofit/>
          </a:bodyPr>
          <a:p>
            <a:pPr algn="ctr"/>
            <a:r>
              <a:rPr sz="2800" b="0">
                <a:latin typeface="HY헤드라인M"/>
              </a:rPr>
              <a:t>NC-T30R</a:t>
            </a:r>
          </a:p>
          <a:p>
            <a:pPr algn="ctr">
              <a:lnSpc>
                <a:spcPct val="90000"/>
              </a:lnSpc>
            </a:pPr>
            <a:r>
              <a:rPr sz="1200" b="0">
                <a:latin typeface="HY헤드라인M"/>
              </a:rPr>
              <a:t>( CAS No. : 7440-47-3 ,  함유량 : 18~22%) - 크롬</a:t>
            </a:r>
          </a:p>
          <a:p>
            <a:pPr algn="ctr">
              <a:lnSpc>
                <a:spcPct val="90000"/>
              </a:lnSpc>
            </a:pPr>
            <a:r>
              <a:rPr sz="1200" b="0">
                <a:latin typeface="HY헤드라인M"/>
              </a:rPr>
              <a:t>( CAS No. : 7440-50-8 ,  함유량 : &lt;1%) - 구리</a:t>
            </a:r>
          </a:p>
          <a:p>
            <a:pPr algn="ctr">
              <a:lnSpc>
                <a:spcPct val="90000"/>
              </a:lnSpc>
            </a:pPr>
            <a:r>
              <a:rPr sz="1200" b="0">
                <a:latin typeface="HY헤드라인M"/>
              </a:rPr>
              <a:t>( CAS No. : 7439-89-6 ,  함유량 : &lt;3%) - 철</a:t>
            </a:r>
          </a:p>
          <a:p>
            <a:pPr algn="ctr">
              <a:lnSpc>
                <a:spcPct val="90000"/>
              </a:lnSpc>
            </a:pPr>
            <a:r>
              <a:rPr sz="1200" b="0">
                <a:latin typeface="HY헤드라인M"/>
              </a:rPr>
              <a:t>( CAS No. : 7439-96-5 ,  함유량 : 2.5~3.5%) - 망간</a:t>
            </a:r>
          </a:p>
          <a:p>
            <a:pPr algn="ctr">
              <a:lnSpc>
                <a:spcPct val="90000"/>
              </a:lnSpc>
            </a:pPr>
            <a:r>
              <a:rPr sz="1200" b="0">
                <a:latin typeface="HY헤드라인M"/>
              </a:rPr>
              <a:t>( CAS No. : 7440-03-1 ,  함유량 : 2~3%) - 니오븀</a:t>
            </a:r>
          </a:p>
          <a:p>
            <a:pPr algn="ctr">
              <a:lnSpc>
                <a:spcPct val="90000"/>
              </a:lnSpc>
            </a:pPr>
            <a:r>
              <a:rPr sz="1200" b="0">
                <a:latin typeface="HY헤드라인M"/>
              </a:rPr>
              <a:t>( CAS No. : 7440-02-0 ,  함유량 : &gt;67%) - 니켈</a:t>
            </a:r>
          </a:p>
          <a:p>
            <a:pPr algn="ctr">
              <a:lnSpc>
                <a:spcPct val="90000"/>
              </a:lnSpc>
            </a:pPr>
            <a:r>
              <a:rPr sz="1200" b="0">
                <a:latin typeface="HY헤드라인M"/>
              </a:rPr>
              <a:t>( CAS No. : 7440-21-3 ,  함유량 : &lt;1%) - 실리콘</a:t>
            </a:r>
          </a:p>
        </p:txBody>
      </p:sp>
      <p:sp>
        <p:nvSpPr>
          <p:cNvPr id="8" name="Rectangle 15"/>
          <p:cNvSpPr/>
          <p:nvPr/>
        </p:nvSpPr>
        <p:spPr>
          <a:xfrm>
            <a:off x="5460000" y="3009380"/>
            <a:ext cx="1224000" cy="60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82800" bIns="46800" anchor="t">
            <a:normAutofit/>
          </a:bodyPr>
          <a:p>
            <a:pPr marL="431640" indent="-431640" algn="ctr">
              <a:lnSpc>
                <a:spcPts val="3600"/>
              </a:lnSpc>
              <a:spcBef>
                <a:spcPts val="901"/>
              </a:spcBef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1" lang="ko-KR" sz="3600" spc="-1" strike="noStrike">
                <a:solidFill>
                  <a:srgbClr val="000000"/>
                </a:solidFill>
                <a:latin typeface="HY헤드라인M"/>
                <a:ea typeface="HY헤드라인M"/>
              </a:rPr>
              <a:t>위험</a:t>
            </a:r>
            <a:endParaRPr b="0" lang="en-US" sz="3600" spc="-1" strike="noStrike">
              <a:solidFill>
                <a:srgbClr val="000000"/>
              </a:solidFill>
              <a:latin typeface="굴림"/>
            </a:endParaRPr>
          </a:p>
        </p:txBody>
      </p:sp>
      <p:sp>
        <p:nvSpPr>
          <p:cNvPr id="9" name="Rectangle 16"/>
          <p:cNvSpPr/>
          <p:nvPr/>
        </p:nvSpPr>
        <p:spPr>
          <a:xfrm>
            <a:off x="336600" y="8516880"/>
            <a:ext cx="6264360" cy="38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 anchor="t">
            <a:normAutofit fontScale="50000"/>
          </a:bodyPr>
          <a:p>
            <a:r>
              <a:rPr sz="1200" b="1">
                <a:latin typeface="굴림"/>
              </a:rPr>
              <a:t>※ 공급자 정보 : 경상남도 창원시 성산구 정동로 62번길 56(성주동)  ㈜세아에삽 ☎ 055-289-8111</a:t>
            </a:r>
          </a:p>
        </p:txBody>
      </p:sp>
      <p:pic>
        <p:nvPicPr>
          <p:cNvPr id="10" name="Picture 9" descr="pict_excla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4000" y="2734440"/>
            <a:ext cx="1150000" cy="1150000"/>
          </a:xfrm>
          <a:prstGeom prst="rect">
            <a:avLst/>
          </a:prstGeom>
        </p:spPr>
      </p:pic>
      <p:pic>
        <p:nvPicPr>
          <p:cNvPr id="11" name="Picture 10" descr="pict_healt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4000" y="2734440"/>
            <a:ext cx="1150000" cy="1150000"/>
          </a:xfrm>
          <a:prstGeom prst="rect">
            <a:avLst/>
          </a:prstGeom>
        </p:spPr>
      </p:pic>
      <p:pic>
        <p:nvPicPr>
          <p:cNvPr id="12" name="Picture 11" descr="pict_en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4000" y="2734440"/>
            <a:ext cx="1150000" cy="115000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2010-06-20T23:15:54Z</dcterms:created>
  <dc:creator>HCC</dc:creator>
  <dc:description/>
  <dc:language>en-US</dc:language>
  <cp:lastModifiedBy>김재원(Kim Jae-Won)</cp:lastModifiedBy>
  <cp:lastPrinted>2026-07-16T01:03:21Z</cp:lastPrinted>
  <dcterms:modified xsi:type="dcterms:W3CDTF">2026-07-16T01:03:49Z</dcterms:modified>
  <cp:revision>58</cp:revision>
  <dc:subject/>
  <dc:title>슬라이드 1</dc:title>
</cp:coreProperties>
</file>